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91f358c-a388-b6d0-5478-5dae2acd884e}">
          <p14:sldIdLst>
            <p14:sldId id="256"/>
            <p14:sldId id="257"/>
            <p14:sldId id="258"/>
          </p14:sldIdLst>
        </p14:section>
        <p14:section name="Algorithm" id="{6c90ce59-c876-5c8a-ca8e-c28d74c3c55e}">
          <p14:sldIdLst>
            <p14:sldId id="259"/>
            <p14:sldId id="260"/>
            <p14:sldId id="261"/>
          </p14:sldIdLst>
        </p14:section>
        <p14:section name="Example" id="{6ede5777-c169-190f-6a2c-448d30ff95fc}">
          <p14:sldIdLst>
            <p14:sldId id="262"/>
            <p14:sldId id="263"/>
          </p14:sldIdLst>
        </p14:section>
        <p14:section name="Analysis" id="{abebfeaf-b375-ccb7-e579-42cfc230dcd5}">
          <p14:sldIdLst>
            <p14:sldId id="264"/>
          </p14:sldIdLst>
        </p14:section>
        <p14:section name="Conclusion" id="{a50c223c-1225-1ae1-f428-86616d599a0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297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206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Dijkstra's Algorithm  |  Shrirang Bodkhe  |  DAA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Dijkstra's Algorithm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Finding shortest paths from a single source with a greedy approach</a:t>
            </a:r>
            <a:endParaRPr lang="en-US" sz="1600" dirty="0"/>
          </a:p>
        </p:txBody>
      </p:sp>
      <p:sp>
        <p:nvSpPr>
          <p:cNvPr id="4" name="Student details"/>
          <p:cNvSpPr/>
          <p:nvPr/>
        </p:nvSpPr>
        <p:spPr>
          <a:xfrm>
            <a:off x="548640" y="347472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2A6249"/>
          </a:solidFill>
          <a:ln/>
        </p:spPr>
      </p:sp>
      <p:sp>
        <p:nvSpPr>
          <p:cNvPr id="5" name="Student details text"/>
          <p:cNvSpPr txBox="1"/>
          <p:nvPr/>
        </p:nvSpPr>
        <p:spPr>
          <a:xfrm>
            <a:off x="777240" y="35935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Shrirang Bodkhe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PRN: 25070521090   |   Section: B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Subject: DAA</a:t>
            </a:r>
            <a:endParaRPr lang="en-US" sz="2000" dirty="0"/>
          </a:p>
        </p:txBody>
      </p:sp>
      <p:sp>
        <p:nvSpPr>
          <p:cNvPr id="6" name="Graph panel"/>
          <p:cNvSpPr/>
          <p:nvPr/>
        </p:nvSpPr>
        <p:spPr>
          <a:xfrm>
            <a:off x="5029200" y="1371600"/>
            <a:ext cx="3621024" cy="2798064"/>
          </a:xfrm>
          <a:prstGeom prst="roundRect">
            <a:avLst>
              <a:gd name="adj" fmla="val 3922"/>
            </a:avLst>
          </a:prstGeom>
          <a:solidFill>
            <a:srgbClr val="2A6249"/>
          </a:solidFill>
          <a:ln/>
        </p:spPr>
      </p:sp>
      <p:sp>
        <p:nvSpPr>
          <p:cNvPr id="7" name="Edge AB"/>
          <p:cNvSpPr/>
          <p:nvPr/>
        </p:nvSpPr>
        <p:spPr>
          <a:xfrm flipV="1">
            <a:off x="5481828" y="1906524"/>
            <a:ext cx="1152144" cy="987552"/>
          </a:xfrm>
          <a:prstGeom prst="line">
            <a:avLst/>
          </a:prstGeom>
          <a:noFill/>
          <a:ln w="19050">
            <a:solidFill>
              <a:srgbClr val="4F7A66"/>
            </a:solidFill>
            <a:prstDash val="dash"/>
          </a:ln>
        </p:spPr>
      </p:sp>
      <p:sp>
        <p:nvSpPr>
          <p:cNvPr id="8" name="Edge CD"/>
          <p:cNvSpPr/>
          <p:nvPr/>
        </p:nvSpPr>
        <p:spPr>
          <a:xfrm flipV="1">
            <a:off x="6633972" y="1988820"/>
            <a:ext cx="1563624" cy="1892808"/>
          </a:xfrm>
          <a:prstGeom prst="line">
            <a:avLst/>
          </a:prstGeom>
          <a:noFill/>
          <a:ln w="19050">
            <a:solidFill>
              <a:srgbClr val="4F7A66"/>
            </a:solidFill>
            <a:prstDash val="dash"/>
          </a:ln>
        </p:spPr>
      </p:sp>
      <p:sp>
        <p:nvSpPr>
          <p:cNvPr id="9" name="Edge DE"/>
          <p:cNvSpPr/>
          <p:nvPr/>
        </p:nvSpPr>
        <p:spPr>
          <a:xfrm>
            <a:off x="8197596" y="1988820"/>
            <a:ext cx="82296" cy="1810512"/>
          </a:xfrm>
          <a:prstGeom prst="line">
            <a:avLst/>
          </a:prstGeom>
          <a:noFill/>
          <a:ln w="19050">
            <a:solidFill>
              <a:srgbClr val="4F7A66"/>
            </a:solidFill>
            <a:prstDash val="dash"/>
          </a:ln>
        </p:spPr>
      </p:sp>
      <p:sp>
        <p:nvSpPr>
          <p:cNvPr id="10" name="Edge AC"/>
          <p:cNvSpPr/>
          <p:nvPr/>
        </p:nvSpPr>
        <p:spPr>
          <a:xfrm>
            <a:off x="5481828" y="2894076"/>
            <a:ext cx="1152144" cy="987552"/>
          </a:xfrm>
          <a:prstGeom prst="line">
            <a:avLst/>
          </a:prstGeom>
          <a:noFill/>
          <a:ln w="57150">
            <a:solidFill>
              <a:srgbClr val="97BC62"/>
            </a:solidFill>
            <a:prstDash val="solid"/>
          </a:ln>
        </p:spPr>
      </p:sp>
      <p:sp>
        <p:nvSpPr>
          <p:cNvPr id="11" name="Edge BC"/>
          <p:cNvSpPr/>
          <p:nvPr/>
        </p:nvSpPr>
        <p:spPr>
          <a:xfrm>
            <a:off x="6633972" y="1906524"/>
            <a:ext cx="0" cy="1975104"/>
          </a:xfrm>
          <a:prstGeom prst="line">
            <a:avLst/>
          </a:prstGeom>
          <a:noFill/>
          <a:ln w="57150">
            <a:solidFill>
              <a:srgbClr val="97BC62"/>
            </a:solidFill>
            <a:prstDash val="solid"/>
          </a:ln>
        </p:spPr>
      </p:sp>
      <p:sp>
        <p:nvSpPr>
          <p:cNvPr id="12" name="Edge BD"/>
          <p:cNvSpPr/>
          <p:nvPr/>
        </p:nvSpPr>
        <p:spPr>
          <a:xfrm>
            <a:off x="6633972" y="1906524"/>
            <a:ext cx="1563624" cy="82296"/>
          </a:xfrm>
          <a:prstGeom prst="line">
            <a:avLst/>
          </a:prstGeom>
          <a:noFill/>
          <a:ln w="57150">
            <a:solidFill>
              <a:srgbClr val="97BC62"/>
            </a:solidFill>
            <a:prstDash val="solid"/>
          </a:ln>
        </p:spPr>
      </p:sp>
      <p:sp>
        <p:nvSpPr>
          <p:cNvPr id="13" name="Edge CE"/>
          <p:cNvSpPr/>
          <p:nvPr/>
        </p:nvSpPr>
        <p:spPr>
          <a:xfrm flipV="1">
            <a:off x="6633972" y="3799332"/>
            <a:ext cx="1645920" cy="82296"/>
          </a:xfrm>
          <a:prstGeom prst="line">
            <a:avLst/>
          </a:prstGeom>
          <a:noFill/>
          <a:ln w="57150">
            <a:solidFill>
              <a:srgbClr val="97BC62"/>
            </a:solidFill>
            <a:prstDash val="solid"/>
          </a:ln>
        </p:spPr>
      </p:sp>
      <p:sp>
        <p:nvSpPr>
          <p:cNvPr id="14" name="Node A"/>
          <p:cNvSpPr txBox="1"/>
          <p:nvPr/>
        </p:nvSpPr>
        <p:spPr>
          <a:xfrm>
            <a:off x="5276088" y="2688336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5" name="Node B"/>
          <p:cNvSpPr txBox="1"/>
          <p:nvPr/>
        </p:nvSpPr>
        <p:spPr>
          <a:xfrm>
            <a:off x="6428232" y="1700784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16" name="Node C"/>
          <p:cNvSpPr txBox="1"/>
          <p:nvPr/>
        </p:nvSpPr>
        <p:spPr>
          <a:xfrm>
            <a:off x="6428232" y="3675888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Node D"/>
          <p:cNvSpPr txBox="1"/>
          <p:nvPr/>
        </p:nvSpPr>
        <p:spPr>
          <a:xfrm>
            <a:off x="7991856" y="1783080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endParaRPr lang="en-US" sz="1400" dirty="0"/>
          </a:p>
        </p:txBody>
      </p:sp>
      <p:sp>
        <p:nvSpPr>
          <p:cNvPr id="18" name="Node E"/>
          <p:cNvSpPr txBox="1"/>
          <p:nvPr/>
        </p:nvSpPr>
        <p:spPr>
          <a:xfrm>
            <a:off x="8074152" y="3593592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endParaRPr lang="en-US" sz="1400" dirty="0"/>
          </a:p>
        </p:txBody>
      </p:sp>
      <p:sp>
        <p:nvSpPr>
          <p:cNvPr id="19" name="Weight AB"/>
          <p:cNvSpPr txBox="1"/>
          <p:nvPr/>
        </p:nvSpPr>
        <p:spPr>
          <a:xfrm>
            <a:off x="5893308" y="2285086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Weight AC"/>
          <p:cNvSpPr txBox="1"/>
          <p:nvPr/>
        </p:nvSpPr>
        <p:spPr>
          <a:xfrm>
            <a:off x="5893308" y="3272638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Weight BC"/>
          <p:cNvSpPr txBox="1"/>
          <p:nvPr/>
        </p:nvSpPr>
        <p:spPr>
          <a:xfrm>
            <a:off x="6469380" y="2778862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Weight BD"/>
          <p:cNvSpPr txBox="1"/>
          <p:nvPr/>
        </p:nvSpPr>
        <p:spPr>
          <a:xfrm>
            <a:off x="7251192" y="1832458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Weight CD"/>
          <p:cNvSpPr txBox="1"/>
          <p:nvPr/>
        </p:nvSpPr>
        <p:spPr>
          <a:xfrm>
            <a:off x="7251192" y="2820010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24" name="Weight CE"/>
          <p:cNvSpPr txBox="1"/>
          <p:nvPr/>
        </p:nvSpPr>
        <p:spPr>
          <a:xfrm>
            <a:off x="7292340" y="3725266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5" name="Weight DE"/>
          <p:cNvSpPr txBox="1"/>
          <p:nvPr/>
        </p:nvSpPr>
        <p:spPr>
          <a:xfrm>
            <a:off x="8074152" y="2778862"/>
            <a:ext cx="329184" cy="230429"/>
          </a:xfrm>
          <a:prstGeom prst="roundRect">
            <a:avLst>
              <a:gd name="adj" fmla="val 23810"/>
            </a:avLst>
          </a:prstGeom>
          <a:solidFill>
            <a:srgbClr val="1F4D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Shortest Path Problem</a:t>
            </a:r>
            <a:endParaRPr lang="en-US" sz="3400" dirty="0"/>
          </a:p>
        </p:txBody>
      </p:sp>
      <p:sp>
        <p:nvSpPr>
          <p:cNvPr id="3" name="Card Shortest Path"/>
          <p:cNvSpPr/>
          <p:nvPr/>
        </p:nvSpPr>
        <p:spPr>
          <a:xfrm>
            <a:off x="5486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Shortest Path badge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hortest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Shortest Path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63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path between two vertices whose edge weights add up to the smallest possible total</a:t>
            </a:r>
            <a:endParaRPr lang="en-US" sz="1400" dirty="0"/>
          </a:p>
        </p:txBody>
      </p:sp>
      <p:sp>
        <p:nvSpPr>
          <p:cNvPr id="8" name="Card Single Source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Single Source badge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Single Sou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Single Source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063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the shortest distance from one source vertex to every other vertex</a:t>
            </a:r>
            <a:endParaRPr lang="en-US" sz="1400" dirty="0"/>
          </a:p>
        </p:txBody>
      </p:sp>
      <p:sp>
        <p:nvSpPr>
          <p:cNvPr id="13" name="Card Input Graph"/>
          <p:cNvSpPr/>
          <p:nvPr/>
        </p:nvSpPr>
        <p:spPr>
          <a:xfrm>
            <a:off x="60350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Input Graph badge"/>
          <p:cNvSpPr/>
          <p:nvPr/>
        </p:nvSpPr>
        <p:spPr>
          <a:xfrm>
            <a:off x="626364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Input Grap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377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Input Graph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063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weighted graph, directed or undirected, with no negative edge weights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Dijkstra's Core Idea</a:t>
            </a:r>
            <a:endParaRPr lang="en-US" sz="3400" dirty="0"/>
          </a:p>
        </p:txBody>
      </p:sp>
      <p:sp>
        <p:nvSpPr>
          <p:cNvPr id="3" name="Greedy rule card"/>
          <p:cNvSpPr/>
          <p:nvPr/>
        </p:nvSpPr>
        <p:spPr>
          <a:xfrm>
            <a:off x="548640" y="1371600"/>
            <a:ext cx="384048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THE GREEDY RULE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settle the closest unvisited vertex next.</a:t>
            </a:r>
            <a:endParaRPr lang="en-US" sz="2600" dirty="0"/>
          </a:p>
        </p:txBody>
      </p:sp>
      <p:sp>
        <p:nvSpPr>
          <p:cNvPr id="6" name="Greedy choice badge"/>
          <p:cNvSpPr/>
          <p:nvPr/>
        </p:nvSpPr>
        <p:spPr>
          <a:xfrm>
            <a:off x="4754880" y="15087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Greedy cho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3470" y="165735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1371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Greedy choice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nearest unvisited vertex already has its final shortest distance</a:t>
            </a:r>
            <a:endParaRPr lang="en-US" sz="1400" dirty="0"/>
          </a:p>
        </p:txBody>
      </p:sp>
      <p:sp>
        <p:nvSpPr>
          <p:cNvPr id="10" name="Relaxation badge"/>
          <p:cNvSpPr/>
          <p:nvPr/>
        </p:nvSpPr>
        <p:spPr>
          <a:xfrm>
            <a:off x="4754880" y="25603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Relax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470" y="270891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Relaxation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a neighbour's distance whenever a shorter route is found</a:t>
            </a:r>
            <a:endParaRPr lang="en-US" sz="1400" dirty="0"/>
          </a:p>
        </p:txBody>
      </p:sp>
      <p:sp>
        <p:nvSpPr>
          <p:cNvPr id="14" name="Key ingredients badge"/>
          <p:cNvSpPr/>
          <p:nvPr/>
        </p:nvSpPr>
        <p:spPr>
          <a:xfrm>
            <a:off x="4754880" y="3611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Key ingredi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470" y="37604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53212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ingredients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532120" y="37673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distance table and a min-priority queue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Algorithm Steps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146304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Initialize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 distance 0, all others ∞</a:t>
            </a:r>
            <a:endParaRPr lang="en-US" sz="1400" dirty="0"/>
          </a:p>
        </p:txBody>
      </p:sp>
      <p:sp>
        <p:nvSpPr>
          <p:cNvPr id="7" name="Step card 2"/>
          <p:cNvSpPr/>
          <p:nvPr/>
        </p:nvSpPr>
        <p:spPr>
          <a:xfrm>
            <a:off x="2194560" y="1371600"/>
            <a:ext cx="146304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Step number 2"/>
          <p:cNvSpPr txBox="1"/>
          <p:nvPr/>
        </p:nvSpPr>
        <p:spPr>
          <a:xfrm>
            <a:off x="22860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Pick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 the unvisited vertex u with the smallest distance</a:t>
            </a:r>
            <a:endParaRPr lang="en-US" sz="1400" dirty="0"/>
          </a:p>
        </p:txBody>
      </p:sp>
      <p:sp>
        <p:nvSpPr>
          <p:cNvPr id="11" name="Step card 3"/>
          <p:cNvSpPr/>
          <p:nvPr/>
        </p:nvSpPr>
        <p:spPr>
          <a:xfrm>
            <a:off x="3840480" y="1371600"/>
            <a:ext cx="146304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Step number 3"/>
          <p:cNvSpPr txBox="1"/>
          <p:nvPr/>
        </p:nvSpPr>
        <p:spPr>
          <a:xfrm>
            <a:off x="39319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Relax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each neighbour of u if a shorter path is found</a:t>
            </a:r>
            <a:endParaRPr lang="en-US" sz="1400" dirty="0"/>
          </a:p>
        </p:txBody>
      </p:sp>
      <p:sp>
        <p:nvSpPr>
          <p:cNvPr id="15" name="Step card 4"/>
          <p:cNvSpPr/>
          <p:nvPr/>
        </p:nvSpPr>
        <p:spPr>
          <a:xfrm>
            <a:off x="5486400" y="1371600"/>
            <a:ext cx="146304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Step number 4"/>
          <p:cNvSpPr txBox="1"/>
          <p:nvPr/>
        </p:nvSpPr>
        <p:spPr>
          <a:xfrm>
            <a:off x="55778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Mark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Mark u as visited; its distance is now final</a:t>
            </a:r>
            <a:endParaRPr lang="en-US" sz="1400" dirty="0"/>
          </a:p>
        </p:txBody>
      </p:sp>
      <p:sp>
        <p:nvSpPr>
          <p:cNvPr id="19" name="Step card 5"/>
          <p:cNvSpPr/>
          <p:nvPr/>
        </p:nvSpPr>
        <p:spPr>
          <a:xfrm>
            <a:off x="7132320" y="1371600"/>
            <a:ext cx="1463040" cy="292608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Step number 5"/>
          <p:cNvSpPr txBox="1"/>
          <p:nvPr/>
        </p:nvSpPr>
        <p:spPr>
          <a:xfrm>
            <a:off x="722376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Repeat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Continue until every vertex is visited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Pseudocode</a:t>
            </a:r>
            <a:endParaRPr lang="en-US" sz="34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5029200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663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DIJKSTRA(G, s):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vertex v in G.V: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dist[v] = INF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dist[s] = 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all vertices (min-queue)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 is not empty: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= EXTRACT-MIN(Q)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each neighbour v of u: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dist[u] + w(u, v) &lt; dist[v]: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dist[u] + w(u, v)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</a:t>
            </a:r>
            <a:endParaRPr lang="en-US" sz="1300" dirty="0"/>
          </a:p>
        </p:txBody>
      </p:sp>
      <p:sp>
        <p:nvSpPr>
          <p:cNvPr id="5" name="Note Setup"/>
          <p:cNvSpPr/>
          <p:nvPr/>
        </p:nvSpPr>
        <p:spPr>
          <a:xfrm>
            <a:off x="5852160" y="132588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35040" y="1399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Setup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73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distances start at infinity, except the source</a:t>
            </a:r>
            <a:endParaRPr lang="en-US" sz="1400" dirty="0"/>
          </a:p>
        </p:txBody>
      </p:sp>
      <p:sp>
        <p:nvSpPr>
          <p:cNvPr id="8" name="Note Extract-min"/>
          <p:cNvSpPr/>
          <p:nvPr/>
        </p:nvSpPr>
        <p:spPr>
          <a:xfrm>
            <a:off x="5852160" y="242316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Extract-min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770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closest unvisited vertex each round</a:t>
            </a:r>
            <a:endParaRPr lang="en-US" sz="1400" dirty="0"/>
          </a:p>
        </p:txBody>
      </p:sp>
      <p:sp>
        <p:nvSpPr>
          <p:cNvPr id="11" name="Note Relaxation"/>
          <p:cNvSpPr/>
          <p:nvPr/>
        </p:nvSpPr>
        <p:spPr>
          <a:xfrm>
            <a:off x="5852160" y="3520440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Relaxation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86791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Shorter route found? Update the neighbour's distance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Relaxation &amp; Priority Queue</a:t>
            </a:r>
            <a:endParaRPr lang="en-US" sz="3400" dirty="0"/>
          </a:p>
        </p:txBody>
      </p:sp>
      <p:sp>
        <p:nvSpPr>
          <p:cNvPr id="3" name="Operation EXTRACT-MIN"/>
          <p:cNvSpPr/>
          <p:nvPr/>
        </p:nvSpPr>
        <p:spPr>
          <a:xfrm>
            <a:off x="548640" y="13258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EXTRACT-MIN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Removes the unvisited vertex with the smallest distance</a:t>
            </a:r>
            <a:endParaRPr lang="en-US" sz="1400" dirty="0"/>
          </a:p>
        </p:txBody>
      </p:sp>
      <p:sp>
        <p:nvSpPr>
          <p:cNvPr id="6" name="Operation DECREASE-KEY"/>
          <p:cNvSpPr/>
          <p:nvPr/>
        </p:nvSpPr>
        <p:spPr>
          <a:xfrm>
            <a:off x="3291840" y="13258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DECREASE-KEY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Lowers a vertex's distance after a shorter path is found</a:t>
            </a:r>
            <a:endParaRPr lang="en-US" sz="1400" dirty="0"/>
          </a:p>
        </p:txBody>
      </p:sp>
      <p:sp>
        <p:nvSpPr>
          <p:cNvPr id="9" name="Operation RELAX(u, v)"/>
          <p:cNvSpPr/>
          <p:nvPr/>
        </p:nvSpPr>
        <p:spPr>
          <a:xfrm>
            <a:off x="6035040" y="1325880"/>
            <a:ext cx="25603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RELAX(u, v)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Checks whether going through u gives v a shorter route</a:t>
            </a:r>
            <a:endParaRPr lang="en-US" sz="1400" dirty="0"/>
          </a:p>
        </p:txBody>
      </p:sp>
      <p:sp>
        <p:nvSpPr>
          <p:cNvPr id="12" name="Old distance"/>
          <p:cNvSpPr txBox="1"/>
          <p:nvPr/>
        </p:nvSpPr>
        <p:spPr>
          <a:xfrm>
            <a:off x="548640" y="3291840"/>
            <a:ext cx="201168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dist[B] = 4</a:t>
            </a:r>
            <a:endParaRPr lang="en-US" sz="1800" dirty="0"/>
          </a:p>
        </p:txBody>
      </p:sp>
      <p:sp>
        <p:nvSpPr>
          <p:cNvPr id="13" name="Arrow 1"/>
          <p:cNvSpPr/>
          <p:nvPr/>
        </p:nvSpPr>
        <p:spPr>
          <a:xfrm>
            <a:off x="2743200" y="3383280"/>
            <a:ext cx="54864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Shorter route"/>
          <p:cNvSpPr txBox="1"/>
          <p:nvPr/>
        </p:nvSpPr>
        <p:spPr>
          <a:xfrm>
            <a:off x="3474720" y="329184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 + 1 = 3 &lt; 4</a:t>
            </a:r>
            <a:endParaRPr lang="en-US" sz="1800" dirty="0"/>
          </a:p>
        </p:txBody>
      </p:sp>
      <p:sp>
        <p:nvSpPr>
          <p:cNvPr id="15" name="Arrow 2"/>
          <p:cNvSpPr/>
          <p:nvPr/>
        </p:nvSpPr>
        <p:spPr>
          <a:xfrm>
            <a:off x="6035040" y="3383280"/>
            <a:ext cx="54864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New distance"/>
          <p:cNvSpPr txBox="1"/>
          <p:nvPr/>
        </p:nvSpPr>
        <p:spPr>
          <a:xfrm>
            <a:off x="6766560" y="329184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dist[B] = 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route A → C → B beats the direct edge A → B, so B's distance is updated.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Worked Example: The Graph</a:t>
            </a:r>
            <a:endParaRPr lang="en-US" sz="3400" dirty="0"/>
          </a:p>
        </p:txBody>
      </p:sp>
      <p:sp>
        <p:nvSpPr>
          <p:cNvPr id="3" name="Graph panel"/>
          <p:cNvSpPr/>
          <p:nvPr/>
        </p:nvSpPr>
        <p:spPr>
          <a:xfrm>
            <a:off x="548640" y="132588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Edge AB"/>
          <p:cNvSpPr/>
          <p:nvPr/>
        </p:nvSpPr>
        <p:spPr>
          <a:xfrm flipV="1">
            <a:off x="1051560" y="1920240"/>
            <a:ext cx="1280160" cy="109728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5" name="Edge AC"/>
          <p:cNvSpPr/>
          <p:nvPr/>
        </p:nvSpPr>
        <p:spPr>
          <a:xfrm>
            <a:off x="1051560" y="3017520"/>
            <a:ext cx="1280160" cy="109728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6" name="Edge BC"/>
          <p:cNvSpPr/>
          <p:nvPr/>
        </p:nvSpPr>
        <p:spPr>
          <a:xfrm>
            <a:off x="2331720" y="1920240"/>
            <a:ext cx="0" cy="219456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7" name="Edge BD"/>
          <p:cNvSpPr/>
          <p:nvPr/>
        </p:nvSpPr>
        <p:spPr>
          <a:xfrm>
            <a:off x="2331720" y="1920240"/>
            <a:ext cx="1737360" cy="9144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8" name="Edge CD"/>
          <p:cNvSpPr/>
          <p:nvPr/>
        </p:nvSpPr>
        <p:spPr>
          <a:xfrm flipV="1">
            <a:off x="2331720" y="2011680"/>
            <a:ext cx="1737360" cy="210312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9" name="Edge CE"/>
          <p:cNvSpPr/>
          <p:nvPr/>
        </p:nvSpPr>
        <p:spPr>
          <a:xfrm flipV="1">
            <a:off x="2331720" y="4023360"/>
            <a:ext cx="1828800" cy="9144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10" name="Edge DE"/>
          <p:cNvSpPr/>
          <p:nvPr/>
        </p:nvSpPr>
        <p:spPr>
          <a:xfrm>
            <a:off x="4069080" y="2011680"/>
            <a:ext cx="91440" cy="2011680"/>
          </a:xfrm>
          <a:prstGeom prst="line">
            <a:avLst/>
          </a:prstGeom>
          <a:noFill/>
          <a:ln w="31750">
            <a:solidFill>
              <a:srgbClr val="7A8B80"/>
            </a:solidFill>
            <a:prstDash val="solid"/>
          </a:ln>
        </p:spPr>
      </p:sp>
      <p:sp>
        <p:nvSpPr>
          <p:cNvPr id="11" name="Node A"/>
          <p:cNvSpPr txBox="1"/>
          <p:nvPr/>
        </p:nvSpPr>
        <p:spPr>
          <a:xfrm>
            <a:off x="822960" y="27889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</a:t>
            </a:r>
            <a:endParaRPr lang="en-US" sz="1600" dirty="0"/>
          </a:p>
        </p:txBody>
      </p:sp>
      <p:sp>
        <p:nvSpPr>
          <p:cNvPr id="12" name="Node B"/>
          <p:cNvSpPr txBox="1"/>
          <p:nvPr/>
        </p:nvSpPr>
        <p:spPr>
          <a:xfrm>
            <a:off x="2103120" y="16916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Node C"/>
          <p:cNvSpPr txBox="1"/>
          <p:nvPr/>
        </p:nvSpPr>
        <p:spPr>
          <a:xfrm>
            <a:off x="2103120" y="388620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Node D"/>
          <p:cNvSpPr txBox="1"/>
          <p:nvPr/>
        </p:nvSpPr>
        <p:spPr>
          <a:xfrm>
            <a:off x="3840480" y="178308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5" name="Node E"/>
          <p:cNvSpPr txBox="1"/>
          <p:nvPr/>
        </p:nvSpPr>
        <p:spPr>
          <a:xfrm>
            <a:off x="3931920" y="379476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6" name="Weight AB"/>
          <p:cNvSpPr txBox="1"/>
          <p:nvPr/>
        </p:nvSpPr>
        <p:spPr>
          <a:xfrm>
            <a:off x="1508760" y="234086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Weight AC"/>
          <p:cNvSpPr txBox="1"/>
          <p:nvPr/>
        </p:nvSpPr>
        <p:spPr>
          <a:xfrm>
            <a:off x="1508760" y="343814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Weight BC"/>
          <p:cNvSpPr txBox="1"/>
          <p:nvPr/>
        </p:nvSpPr>
        <p:spPr>
          <a:xfrm>
            <a:off x="2148840" y="288950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Weight BD"/>
          <p:cNvSpPr txBox="1"/>
          <p:nvPr/>
        </p:nvSpPr>
        <p:spPr>
          <a:xfrm>
            <a:off x="3017520" y="183794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0" name="Weight CD"/>
          <p:cNvSpPr txBox="1"/>
          <p:nvPr/>
        </p:nvSpPr>
        <p:spPr>
          <a:xfrm>
            <a:off x="3017520" y="293522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21" name="Weight CE"/>
          <p:cNvSpPr txBox="1"/>
          <p:nvPr/>
        </p:nvSpPr>
        <p:spPr>
          <a:xfrm>
            <a:off x="3063240" y="394106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Weight DE"/>
          <p:cNvSpPr txBox="1"/>
          <p:nvPr/>
        </p:nvSpPr>
        <p:spPr>
          <a:xfrm>
            <a:off x="3931920" y="2889504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Stat vertices"/>
          <p:cNvSpPr/>
          <p:nvPr/>
        </p:nvSpPr>
        <p:spPr>
          <a:xfrm>
            <a:off x="5029200" y="132588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212080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2057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vertices</a:t>
            </a:r>
            <a:endParaRPr lang="en-US" sz="1400" dirty="0"/>
          </a:p>
        </p:txBody>
      </p:sp>
      <p:sp>
        <p:nvSpPr>
          <p:cNvPr id="26" name="Stat edges"/>
          <p:cNvSpPr/>
          <p:nvPr/>
        </p:nvSpPr>
        <p:spPr>
          <a:xfrm>
            <a:off x="6903720" y="1325880"/>
            <a:ext cx="16916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86600" y="13716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0574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edges</a:t>
            </a:r>
            <a:endParaRPr lang="en-US" sz="1400" dirty="0"/>
          </a:p>
        </p:txBody>
      </p:sp>
      <p:sp>
        <p:nvSpPr>
          <p:cNvPr id="29" name="Goal card"/>
          <p:cNvSpPr/>
          <p:nvPr/>
        </p:nvSpPr>
        <p:spPr>
          <a:xfrm>
            <a:off x="5029200" y="274320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57800" y="2880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GOAL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200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Source vertex: A (amber)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Distance from A to B, C, D, 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 weights are non-negative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Worked Example: Step by Step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48056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85800"/>
                <a:gridCol w="658368"/>
                <a:gridCol w="658368"/>
                <a:gridCol w="658368"/>
                <a:gridCol w="658368"/>
                <a:gridCol w="65836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Highlighted cell = distance updated in that step</a:t>
            </a:r>
            <a:endParaRPr lang="en-US" sz="1200" dirty="0"/>
          </a:p>
        </p:txBody>
      </p:sp>
      <p:sp>
        <p:nvSpPr>
          <p:cNvPr id="5" name="Graph panel"/>
          <p:cNvSpPr/>
          <p:nvPr/>
        </p:nvSpPr>
        <p:spPr>
          <a:xfrm>
            <a:off x="5120640" y="1325880"/>
            <a:ext cx="3540557" cy="2735885"/>
          </a:xfrm>
          <a:prstGeom prst="roundRect">
            <a:avLst>
              <a:gd name="adj" fmla="val 4011"/>
            </a:avLst>
          </a:prstGeom>
          <a:solidFill>
            <a:schemeClr val="bg2"/>
          </a:solidFill>
          <a:ln/>
        </p:spPr>
      </p:sp>
      <p:sp>
        <p:nvSpPr>
          <p:cNvPr id="6" name="Edge AB"/>
          <p:cNvSpPr/>
          <p:nvPr/>
        </p:nvSpPr>
        <p:spPr>
          <a:xfrm flipV="1">
            <a:off x="5563210" y="1848917"/>
            <a:ext cx="1126541" cy="965606"/>
          </a:xfrm>
          <a:prstGeom prst="line">
            <a:avLst/>
          </a:prstGeom>
          <a:noFill/>
          <a:ln w="19050">
            <a:solidFill>
              <a:srgbClr val="A9B7AE"/>
            </a:solidFill>
            <a:prstDash val="dash"/>
          </a:ln>
        </p:spPr>
      </p:sp>
      <p:sp>
        <p:nvSpPr>
          <p:cNvPr id="7" name="Edge CD"/>
          <p:cNvSpPr/>
          <p:nvPr/>
        </p:nvSpPr>
        <p:spPr>
          <a:xfrm flipV="1">
            <a:off x="6689750" y="1929384"/>
            <a:ext cx="1528877" cy="1850746"/>
          </a:xfrm>
          <a:prstGeom prst="line">
            <a:avLst/>
          </a:prstGeom>
          <a:noFill/>
          <a:ln w="19050">
            <a:solidFill>
              <a:srgbClr val="A9B7AE"/>
            </a:solidFill>
            <a:prstDash val="dash"/>
          </a:ln>
        </p:spPr>
      </p:sp>
      <p:sp>
        <p:nvSpPr>
          <p:cNvPr id="8" name="Edge DE"/>
          <p:cNvSpPr/>
          <p:nvPr/>
        </p:nvSpPr>
        <p:spPr>
          <a:xfrm>
            <a:off x="8218627" y="1929384"/>
            <a:ext cx="80467" cy="1770278"/>
          </a:xfrm>
          <a:prstGeom prst="line">
            <a:avLst/>
          </a:prstGeom>
          <a:noFill/>
          <a:ln w="19050">
            <a:solidFill>
              <a:srgbClr val="A9B7AE"/>
            </a:solidFill>
            <a:prstDash val="dash"/>
          </a:ln>
        </p:spPr>
      </p:sp>
      <p:sp>
        <p:nvSpPr>
          <p:cNvPr id="9" name="Edge AC"/>
          <p:cNvSpPr/>
          <p:nvPr/>
        </p:nvSpPr>
        <p:spPr>
          <a:xfrm>
            <a:off x="5563210" y="2814523"/>
            <a:ext cx="1126541" cy="965606"/>
          </a:xfrm>
          <a:prstGeom prst="line">
            <a:avLst/>
          </a:prstGeom>
          <a:noFill/>
          <a:ln w="57150">
            <a:solidFill>
              <a:srgbClr val="2E7D4F"/>
            </a:solidFill>
            <a:prstDash val="solid"/>
          </a:ln>
        </p:spPr>
      </p:sp>
      <p:sp>
        <p:nvSpPr>
          <p:cNvPr id="10" name="Edge BC"/>
          <p:cNvSpPr/>
          <p:nvPr/>
        </p:nvSpPr>
        <p:spPr>
          <a:xfrm>
            <a:off x="6689750" y="1848917"/>
            <a:ext cx="0" cy="1931213"/>
          </a:xfrm>
          <a:prstGeom prst="line">
            <a:avLst/>
          </a:prstGeom>
          <a:noFill/>
          <a:ln w="57150">
            <a:solidFill>
              <a:srgbClr val="2E7D4F"/>
            </a:solidFill>
            <a:prstDash val="solid"/>
          </a:ln>
        </p:spPr>
      </p:sp>
      <p:sp>
        <p:nvSpPr>
          <p:cNvPr id="11" name="Edge BD"/>
          <p:cNvSpPr/>
          <p:nvPr/>
        </p:nvSpPr>
        <p:spPr>
          <a:xfrm>
            <a:off x="6689750" y="1848917"/>
            <a:ext cx="1528877" cy="80467"/>
          </a:xfrm>
          <a:prstGeom prst="line">
            <a:avLst/>
          </a:prstGeom>
          <a:noFill/>
          <a:ln w="57150">
            <a:solidFill>
              <a:srgbClr val="2E7D4F"/>
            </a:solidFill>
            <a:prstDash val="solid"/>
          </a:ln>
        </p:spPr>
      </p:sp>
      <p:sp>
        <p:nvSpPr>
          <p:cNvPr id="12" name="Edge CE"/>
          <p:cNvSpPr/>
          <p:nvPr/>
        </p:nvSpPr>
        <p:spPr>
          <a:xfrm flipV="1">
            <a:off x="6689750" y="3699662"/>
            <a:ext cx="1609344" cy="80467"/>
          </a:xfrm>
          <a:prstGeom prst="line">
            <a:avLst/>
          </a:prstGeom>
          <a:noFill/>
          <a:ln w="57150">
            <a:solidFill>
              <a:srgbClr val="2E7D4F"/>
            </a:solidFill>
            <a:prstDash val="solid"/>
          </a:ln>
        </p:spPr>
      </p:sp>
      <p:sp>
        <p:nvSpPr>
          <p:cNvPr id="13" name="Node A"/>
          <p:cNvSpPr txBox="1"/>
          <p:nvPr/>
        </p:nvSpPr>
        <p:spPr>
          <a:xfrm>
            <a:off x="5362042" y="2613355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14" name="Node B"/>
          <p:cNvSpPr txBox="1"/>
          <p:nvPr/>
        </p:nvSpPr>
        <p:spPr>
          <a:xfrm>
            <a:off x="6488582" y="1647749"/>
            <a:ext cx="402336" cy="402336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Node C"/>
          <p:cNvSpPr txBox="1"/>
          <p:nvPr/>
        </p:nvSpPr>
        <p:spPr>
          <a:xfrm>
            <a:off x="6488582" y="3578962"/>
            <a:ext cx="402336" cy="402336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6" name="Node D"/>
          <p:cNvSpPr txBox="1"/>
          <p:nvPr/>
        </p:nvSpPr>
        <p:spPr>
          <a:xfrm>
            <a:off x="8017459" y="1728216"/>
            <a:ext cx="402336" cy="402336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7" name="Node E"/>
          <p:cNvSpPr txBox="1"/>
          <p:nvPr/>
        </p:nvSpPr>
        <p:spPr>
          <a:xfrm>
            <a:off x="8097926" y="3498494"/>
            <a:ext cx="402336" cy="402336"/>
          </a:xfrm>
          <a:prstGeom prst="ellipse">
            <a:avLst/>
          </a:prstGeom>
          <a:solidFill>
            <a:srgbClr val="2E7D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18" name="Weight AB"/>
          <p:cNvSpPr txBox="1"/>
          <p:nvPr/>
        </p:nvSpPr>
        <p:spPr>
          <a:xfrm>
            <a:off x="5965546" y="2219066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Weight AC"/>
          <p:cNvSpPr txBox="1"/>
          <p:nvPr/>
        </p:nvSpPr>
        <p:spPr>
          <a:xfrm>
            <a:off x="5965546" y="3184672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Weight BC"/>
          <p:cNvSpPr txBox="1"/>
          <p:nvPr/>
        </p:nvSpPr>
        <p:spPr>
          <a:xfrm>
            <a:off x="6528816" y="2701869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Weight BD"/>
          <p:cNvSpPr txBox="1"/>
          <p:nvPr/>
        </p:nvSpPr>
        <p:spPr>
          <a:xfrm>
            <a:off x="7293254" y="1776496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Weight CD"/>
          <p:cNvSpPr txBox="1"/>
          <p:nvPr/>
        </p:nvSpPr>
        <p:spPr>
          <a:xfrm>
            <a:off x="7293254" y="2742103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</a:t>
            </a:r>
            <a:endParaRPr lang="en-US" sz="1100" dirty="0"/>
          </a:p>
        </p:txBody>
      </p:sp>
      <p:sp>
        <p:nvSpPr>
          <p:cNvPr id="23" name="Weight CE"/>
          <p:cNvSpPr txBox="1"/>
          <p:nvPr/>
        </p:nvSpPr>
        <p:spPr>
          <a:xfrm>
            <a:off x="7333488" y="3627242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6</a:t>
            </a:r>
            <a:endParaRPr lang="en-US" sz="1100" dirty="0"/>
          </a:p>
        </p:txBody>
      </p:sp>
      <p:sp>
        <p:nvSpPr>
          <p:cNvPr id="24" name="Weight DE"/>
          <p:cNvSpPr txBox="1"/>
          <p:nvPr/>
        </p:nvSpPr>
        <p:spPr>
          <a:xfrm>
            <a:off x="8097926" y="2701869"/>
            <a:ext cx="321869" cy="225308"/>
          </a:xfrm>
          <a:prstGeom prst="roundRect">
            <a:avLst>
              <a:gd name="adj" fmla="val 24351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120640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Shortest distances from A: B = 3, C = 2, D = 8, E = 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Complexity &amp; Comparison</a:t>
            </a:r>
            <a:endParaRPr lang="en-US" sz="3400" dirty="0"/>
          </a:p>
        </p:txBody>
      </p:sp>
      <p:sp>
        <p:nvSpPr>
          <p:cNvPr id="3" name="Complexity O((V + E) log V)"/>
          <p:cNvSpPr/>
          <p:nvPr/>
        </p:nvSpPr>
        <p:spPr>
          <a:xfrm>
            <a:off x="548640" y="132588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Binary heap (most common)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O((V + E) log V)</a:t>
            </a:r>
            <a:endParaRPr lang="en-US" sz="2400" dirty="0"/>
          </a:p>
        </p:txBody>
      </p:sp>
      <p:sp>
        <p:nvSpPr>
          <p:cNvPr id="6" name="Complexity O(V²)"/>
          <p:cNvSpPr/>
          <p:nvPr/>
        </p:nvSpPr>
        <p:spPr>
          <a:xfrm>
            <a:off x="548640" y="237744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Simple array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2400" dirty="0"/>
          </a:p>
        </p:txBody>
      </p:sp>
      <p:sp>
        <p:nvSpPr>
          <p:cNvPr id="9" name="Complexity O(E + V log V)"/>
          <p:cNvSpPr/>
          <p:nvPr/>
        </p:nvSpPr>
        <p:spPr>
          <a:xfrm>
            <a:off x="548640" y="3429000"/>
            <a:ext cx="338328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Fibonacci heap (theoretical)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94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O(E + V log V)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325880"/>
          <a:ext cx="4297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5544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programming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allowed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 + E) log 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·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Non-negative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Applications &amp; Takeaways</a:t>
            </a:r>
            <a:endParaRPr lang="en-US" sz="3400" dirty="0"/>
          </a:p>
        </p:txBody>
      </p:sp>
      <p:sp>
        <p:nvSpPr>
          <p:cNvPr id="3" name="Panel Applications"/>
          <p:cNvSpPr/>
          <p:nvPr/>
        </p:nvSpPr>
        <p:spPr>
          <a:xfrm>
            <a:off x="548640" y="132588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2A62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Applications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GPS and road navigation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Network routing protocols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Flight and travel planning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Pathfinding in games, robots</a:t>
            </a:r>
            <a:endParaRPr lang="en-US" sz="1600" dirty="0"/>
          </a:p>
        </p:txBody>
      </p:sp>
      <p:sp>
        <p:nvSpPr>
          <p:cNvPr id="6" name="Panel Key Takeaways"/>
          <p:cNvSpPr/>
          <p:nvPr/>
        </p:nvSpPr>
        <p:spPr>
          <a:xfrm>
            <a:off x="4663440" y="1325880"/>
            <a:ext cx="3931920" cy="2240280"/>
          </a:xfrm>
          <a:prstGeom prst="roundRect">
            <a:avLst>
              <a:gd name="adj" fmla="val 4898"/>
            </a:avLst>
          </a:prstGeom>
          <a:solidFill>
            <a:srgbClr val="2A624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Greedy: nearest vertex first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Needs non-negative weights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Time: O((V + E) log V)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Single-source shortest paths</a:t>
            </a:r>
            <a:endParaRPr lang="en-US" sz="1600" dirty="0"/>
          </a:p>
        </p:txBody>
      </p:sp>
      <p:sp>
        <p:nvSpPr>
          <p:cNvPr id="9" name="Thank you panel"/>
          <p:cNvSpPr/>
          <p:nvPr/>
        </p:nvSpPr>
        <p:spPr>
          <a:xfrm>
            <a:off x="548640" y="3794760"/>
            <a:ext cx="8046720" cy="777240"/>
          </a:xfrm>
          <a:prstGeom prst="roundRect">
            <a:avLst>
              <a:gd name="adj" fmla="val 14118"/>
            </a:avLst>
          </a:prstGeom>
          <a:solidFill>
            <a:srgbClr val="2A62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94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794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Shrirang Bodkhe  |  PRN 25070521090  |  Section B  |  DAA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uskal Forest">
  <a:themeElements>
    <a:clrScheme name="Kruskal Forest">
      <a:dk1>
        <a:srgbClr val="1B2A22"/>
      </a:dk1>
      <a:lt1>
        <a:srgbClr val="FFFFFF"/>
      </a:lt1>
      <a:dk2>
        <a:srgbClr val="1F4D3A"/>
      </a:dk2>
      <a:lt2>
        <a:srgbClr val="EAF3E2"/>
      </a:lt2>
      <a:accent1>
        <a:srgbClr val="2E7D4F"/>
      </a:accent1>
      <a:accent2>
        <a:srgbClr val="97BC62"/>
      </a:accent2>
      <a:accent3>
        <a:srgbClr val="E8A33D"/>
      </a:accent3>
      <a:accent4>
        <a:srgbClr val="C8553D"/>
      </a:accent4>
      <a:accent5>
        <a:srgbClr val="4A7C8C"/>
      </a:accent5>
      <a:accent6>
        <a:srgbClr val="7A8B80"/>
      </a:accent6>
      <a:hlink>
        <a:srgbClr val="2E7D4F"/>
      </a:hlink>
      <a:folHlink>
        <a:srgbClr val="7A8B80"/>
      </a:folHlink>
    </a:clrScheme>
    <a:fontScheme name="Kruskal 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DAA</dc:subject>
  <dc:creator>Shrirang Bodkhe</dc:creator>
  <cp:lastModifiedBy>Shrirang Bodkhe</cp:lastModifiedBy>
  <cp:revision>1</cp:revision>
  <dcterms:created xsi:type="dcterms:W3CDTF">2026-10-20T15:56:10Z</dcterms:created>
  <dcterms:modified xsi:type="dcterms:W3CDTF">2026-10-20T15:56:10Z</dcterms:modified>
</cp:coreProperties>
</file>